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4"/>
  </p:normalViewPr>
  <p:slideViewPr>
    <p:cSldViewPr snapToGrid="0">
      <p:cViewPr varScale="1">
        <p:scale>
          <a:sx n="88" d="100"/>
          <a:sy n="88" d="100"/>
        </p:scale>
        <p:origin x="208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CEDFAB-88C2-49DB-8800-2C815AE28DE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C457428-5521-4C97-8118-E3547DC0831B}">
      <dgm:prSet/>
      <dgm:spPr/>
      <dgm:t>
        <a:bodyPr/>
        <a:lstStyle/>
        <a:p>
          <a:r>
            <a:rPr lang="de-DE" dirty="0"/>
            <a:t>Motivation &amp; Prior Research</a:t>
          </a:r>
          <a:endParaRPr lang="en-US" dirty="0"/>
        </a:p>
      </dgm:t>
    </dgm:pt>
    <dgm:pt modelId="{8DB17D63-DD93-410B-881D-6893EBFD548E}" type="parTrans" cxnId="{A40C7586-6CFF-422E-9C0B-B85D4340AAC5}">
      <dgm:prSet/>
      <dgm:spPr/>
      <dgm:t>
        <a:bodyPr/>
        <a:lstStyle/>
        <a:p>
          <a:endParaRPr lang="en-US"/>
        </a:p>
      </dgm:t>
    </dgm:pt>
    <dgm:pt modelId="{A99C376C-ED58-4777-B85B-6CFC9679F8E9}" type="sibTrans" cxnId="{A40C7586-6CFF-422E-9C0B-B85D4340AAC5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928B78CF-55B0-4680-80F8-E13F7D7513F7}">
      <dgm:prSet/>
      <dgm:spPr/>
      <dgm:t>
        <a:bodyPr/>
        <a:lstStyle/>
        <a:p>
          <a:r>
            <a:rPr lang="de-DE"/>
            <a:t>Data &amp; Timing Logic</a:t>
          </a:r>
          <a:endParaRPr lang="en-US"/>
        </a:p>
      </dgm:t>
    </dgm:pt>
    <dgm:pt modelId="{6D4385DC-D0BF-4EFF-971B-AC01BA60A139}" type="parTrans" cxnId="{1C96738C-B499-4AA9-8ADA-A397AEF0949B}">
      <dgm:prSet/>
      <dgm:spPr/>
      <dgm:t>
        <a:bodyPr/>
        <a:lstStyle/>
        <a:p>
          <a:endParaRPr lang="en-US"/>
        </a:p>
      </dgm:t>
    </dgm:pt>
    <dgm:pt modelId="{E4A54C99-5A2C-4A08-86A7-212BB835BB69}" type="sibTrans" cxnId="{1C96738C-B499-4AA9-8ADA-A397AEF0949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19A133C-9D8C-4BD4-B584-06A2AC5D4041}">
      <dgm:prSet/>
      <dgm:spPr/>
      <dgm:t>
        <a:bodyPr/>
        <a:lstStyle/>
        <a:p>
          <a:r>
            <a:rPr lang="de-DE"/>
            <a:t>Econometric Models</a:t>
          </a:r>
          <a:endParaRPr lang="en-US"/>
        </a:p>
      </dgm:t>
    </dgm:pt>
    <dgm:pt modelId="{B523561C-E48A-43DF-A277-7A133223A04C}" type="parTrans" cxnId="{C93D2942-BB57-4BD4-BAB6-595F9977188E}">
      <dgm:prSet/>
      <dgm:spPr/>
      <dgm:t>
        <a:bodyPr/>
        <a:lstStyle/>
        <a:p>
          <a:endParaRPr lang="en-US"/>
        </a:p>
      </dgm:t>
    </dgm:pt>
    <dgm:pt modelId="{E4FED892-3FE1-43CD-89E6-D0D6DFEDF3D1}" type="sibTrans" cxnId="{C93D2942-BB57-4BD4-BAB6-595F9977188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6FEE474-6BD9-495E-9C1E-47AD2644C65C}">
      <dgm:prSet/>
      <dgm:spPr/>
      <dgm:t>
        <a:bodyPr/>
        <a:lstStyle/>
        <a:p>
          <a:r>
            <a:rPr lang="de-DE"/>
            <a:t>Nowcasting Results</a:t>
          </a:r>
          <a:endParaRPr lang="en-US"/>
        </a:p>
      </dgm:t>
    </dgm:pt>
    <dgm:pt modelId="{82158E33-4744-484C-B9FC-CF8A75A16CE7}" type="parTrans" cxnId="{5340B6C4-252E-4D00-816F-CBB4062BA117}">
      <dgm:prSet/>
      <dgm:spPr/>
      <dgm:t>
        <a:bodyPr/>
        <a:lstStyle/>
        <a:p>
          <a:endParaRPr lang="en-US"/>
        </a:p>
      </dgm:t>
    </dgm:pt>
    <dgm:pt modelId="{7EED52EE-5E98-4759-B9ED-58CC0C20C54A}" type="sibTrans" cxnId="{5340B6C4-252E-4D00-816F-CBB4062BA117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B0C79001-6D72-4370-82CC-6803413CC0D6}">
      <dgm:prSet/>
      <dgm:spPr/>
      <dgm:t>
        <a:bodyPr/>
        <a:lstStyle/>
        <a:p>
          <a:r>
            <a:rPr lang="de-DE"/>
            <a:t>Discussion &amp; Conclusion</a:t>
          </a:r>
          <a:endParaRPr lang="en-US"/>
        </a:p>
      </dgm:t>
    </dgm:pt>
    <dgm:pt modelId="{0202F394-348D-4C44-9C19-688AB74F60BB}" type="parTrans" cxnId="{71DD3190-35EC-40FA-A39F-9480F548680E}">
      <dgm:prSet/>
      <dgm:spPr/>
      <dgm:t>
        <a:bodyPr/>
        <a:lstStyle/>
        <a:p>
          <a:endParaRPr lang="en-US"/>
        </a:p>
      </dgm:t>
    </dgm:pt>
    <dgm:pt modelId="{7AA1A420-DAFD-4D52-9491-F68607592092}" type="sibTrans" cxnId="{71DD3190-35EC-40FA-A39F-9480F548680E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D9DDC014-19C3-234D-AB7F-2CED8B72D3DD}" type="pres">
      <dgm:prSet presAssocID="{41CEDFAB-88C2-49DB-8800-2C815AE28DE7}" presName="Name0" presStyleCnt="0">
        <dgm:presLayoutVars>
          <dgm:animLvl val="lvl"/>
          <dgm:resizeHandles val="exact"/>
        </dgm:presLayoutVars>
      </dgm:prSet>
      <dgm:spPr/>
    </dgm:pt>
    <dgm:pt modelId="{33EA588A-2E46-1045-92DD-CE093C129541}" type="pres">
      <dgm:prSet presAssocID="{6C457428-5521-4C97-8118-E3547DC0831B}" presName="compositeNode" presStyleCnt="0">
        <dgm:presLayoutVars>
          <dgm:bulletEnabled val="1"/>
        </dgm:presLayoutVars>
      </dgm:prSet>
      <dgm:spPr/>
    </dgm:pt>
    <dgm:pt modelId="{A5567F20-9561-D44C-929E-C9EC6158783C}" type="pres">
      <dgm:prSet presAssocID="{6C457428-5521-4C97-8118-E3547DC0831B}" presName="bgRect" presStyleLbl="alignNode1" presStyleIdx="0" presStyleCnt="5"/>
      <dgm:spPr/>
    </dgm:pt>
    <dgm:pt modelId="{250CD26C-5B02-604E-B41C-CEA84ABE82CB}" type="pres">
      <dgm:prSet presAssocID="{A99C376C-ED58-4777-B85B-6CFC9679F8E9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78201B38-0E3E-2D4B-8BB0-CB924DE708BC}" type="pres">
      <dgm:prSet presAssocID="{6C457428-5521-4C97-8118-E3547DC0831B}" presName="nodeRect" presStyleLbl="alignNode1" presStyleIdx="0" presStyleCnt="5">
        <dgm:presLayoutVars>
          <dgm:bulletEnabled val="1"/>
        </dgm:presLayoutVars>
      </dgm:prSet>
      <dgm:spPr/>
    </dgm:pt>
    <dgm:pt modelId="{F5700AEF-F02D-9F45-966B-EE400F378C15}" type="pres">
      <dgm:prSet presAssocID="{A99C376C-ED58-4777-B85B-6CFC9679F8E9}" presName="sibTrans" presStyleCnt="0"/>
      <dgm:spPr/>
    </dgm:pt>
    <dgm:pt modelId="{665D9DD2-0CF4-0544-AB8C-EC5505B904CF}" type="pres">
      <dgm:prSet presAssocID="{928B78CF-55B0-4680-80F8-E13F7D7513F7}" presName="compositeNode" presStyleCnt="0">
        <dgm:presLayoutVars>
          <dgm:bulletEnabled val="1"/>
        </dgm:presLayoutVars>
      </dgm:prSet>
      <dgm:spPr/>
    </dgm:pt>
    <dgm:pt modelId="{3EAACC10-D6EF-EB43-8933-70D61028DEC0}" type="pres">
      <dgm:prSet presAssocID="{928B78CF-55B0-4680-80F8-E13F7D7513F7}" presName="bgRect" presStyleLbl="alignNode1" presStyleIdx="1" presStyleCnt="5"/>
      <dgm:spPr/>
    </dgm:pt>
    <dgm:pt modelId="{80FE2FF8-BF06-234A-BC6E-CF9AB6E040B1}" type="pres">
      <dgm:prSet presAssocID="{E4A54C99-5A2C-4A08-86A7-212BB835BB69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F0C84D23-0BA6-B040-8F99-A2A7F7E7510A}" type="pres">
      <dgm:prSet presAssocID="{928B78CF-55B0-4680-80F8-E13F7D7513F7}" presName="nodeRect" presStyleLbl="alignNode1" presStyleIdx="1" presStyleCnt="5">
        <dgm:presLayoutVars>
          <dgm:bulletEnabled val="1"/>
        </dgm:presLayoutVars>
      </dgm:prSet>
      <dgm:spPr/>
    </dgm:pt>
    <dgm:pt modelId="{D0EE5C36-E33C-BE42-A9C4-C5771224A8ED}" type="pres">
      <dgm:prSet presAssocID="{E4A54C99-5A2C-4A08-86A7-212BB835BB69}" presName="sibTrans" presStyleCnt="0"/>
      <dgm:spPr/>
    </dgm:pt>
    <dgm:pt modelId="{7588EDA4-D1DD-0748-A495-9806628FBEB2}" type="pres">
      <dgm:prSet presAssocID="{219A133C-9D8C-4BD4-B584-06A2AC5D4041}" presName="compositeNode" presStyleCnt="0">
        <dgm:presLayoutVars>
          <dgm:bulletEnabled val="1"/>
        </dgm:presLayoutVars>
      </dgm:prSet>
      <dgm:spPr/>
    </dgm:pt>
    <dgm:pt modelId="{1FC219B9-3162-B840-AB46-FBE49B699CEC}" type="pres">
      <dgm:prSet presAssocID="{219A133C-9D8C-4BD4-B584-06A2AC5D4041}" presName="bgRect" presStyleLbl="alignNode1" presStyleIdx="2" presStyleCnt="5"/>
      <dgm:spPr/>
    </dgm:pt>
    <dgm:pt modelId="{ED5981C4-0B22-1A49-B8F1-A3C12013485F}" type="pres">
      <dgm:prSet presAssocID="{E4FED892-3FE1-43CD-89E6-D0D6DFEDF3D1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1C93860A-E5B8-E346-B148-BFA987CDEA95}" type="pres">
      <dgm:prSet presAssocID="{219A133C-9D8C-4BD4-B584-06A2AC5D4041}" presName="nodeRect" presStyleLbl="alignNode1" presStyleIdx="2" presStyleCnt="5">
        <dgm:presLayoutVars>
          <dgm:bulletEnabled val="1"/>
        </dgm:presLayoutVars>
      </dgm:prSet>
      <dgm:spPr/>
    </dgm:pt>
    <dgm:pt modelId="{3541BDB4-AB3F-6D46-9699-468EE6C46E41}" type="pres">
      <dgm:prSet presAssocID="{E4FED892-3FE1-43CD-89E6-D0D6DFEDF3D1}" presName="sibTrans" presStyleCnt="0"/>
      <dgm:spPr/>
    </dgm:pt>
    <dgm:pt modelId="{E94DA432-5C17-644B-8EF2-23CB8D4918AE}" type="pres">
      <dgm:prSet presAssocID="{F6FEE474-6BD9-495E-9C1E-47AD2644C65C}" presName="compositeNode" presStyleCnt="0">
        <dgm:presLayoutVars>
          <dgm:bulletEnabled val="1"/>
        </dgm:presLayoutVars>
      </dgm:prSet>
      <dgm:spPr/>
    </dgm:pt>
    <dgm:pt modelId="{AEBA4282-0E11-5842-86C8-4ED1BB78DA22}" type="pres">
      <dgm:prSet presAssocID="{F6FEE474-6BD9-495E-9C1E-47AD2644C65C}" presName="bgRect" presStyleLbl="alignNode1" presStyleIdx="3" presStyleCnt="5"/>
      <dgm:spPr/>
    </dgm:pt>
    <dgm:pt modelId="{CB9525A0-24AF-2545-8515-B908F7EEAD00}" type="pres">
      <dgm:prSet presAssocID="{7EED52EE-5E98-4759-B9ED-58CC0C20C54A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319B10FE-11CD-824C-A052-A4387A465DF0}" type="pres">
      <dgm:prSet presAssocID="{F6FEE474-6BD9-495E-9C1E-47AD2644C65C}" presName="nodeRect" presStyleLbl="alignNode1" presStyleIdx="3" presStyleCnt="5">
        <dgm:presLayoutVars>
          <dgm:bulletEnabled val="1"/>
        </dgm:presLayoutVars>
      </dgm:prSet>
      <dgm:spPr/>
    </dgm:pt>
    <dgm:pt modelId="{08DA78CA-DCF0-4E41-849F-98929F1D57F8}" type="pres">
      <dgm:prSet presAssocID="{7EED52EE-5E98-4759-B9ED-58CC0C20C54A}" presName="sibTrans" presStyleCnt="0"/>
      <dgm:spPr/>
    </dgm:pt>
    <dgm:pt modelId="{D721A34D-2B6F-2A48-BF92-66AE0895B4B0}" type="pres">
      <dgm:prSet presAssocID="{B0C79001-6D72-4370-82CC-6803413CC0D6}" presName="compositeNode" presStyleCnt="0">
        <dgm:presLayoutVars>
          <dgm:bulletEnabled val="1"/>
        </dgm:presLayoutVars>
      </dgm:prSet>
      <dgm:spPr/>
    </dgm:pt>
    <dgm:pt modelId="{C25BE73B-839B-CD45-8E91-5694CFE789B7}" type="pres">
      <dgm:prSet presAssocID="{B0C79001-6D72-4370-82CC-6803413CC0D6}" presName="bgRect" presStyleLbl="alignNode1" presStyleIdx="4" presStyleCnt="5"/>
      <dgm:spPr/>
    </dgm:pt>
    <dgm:pt modelId="{78FBE71E-4117-7847-A867-F0B0C605DCAE}" type="pres">
      <dgm:prSet presAssocID="{7AA1A420-DAFD-4D52-9491-F68607592092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858133E3-8ACE-7245-9A0C-BE617FB48D37}" type="pres">
      <dgm:prSet presAssocID="{B0C79001-6D72-4370-82CC-6803413CC0D6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79A84102-12BB-5547-832C-052E4D2EEBE1}" type="presOf" srcId="{928B78CF-55B0-4680-80F8-E13F7D7513F7}" destId="{3EAACC10-D6EF-EB43-8933-70D61028DEC0}" srcOrd="0" destOrd="0" presId="urn:microsoft.com/office/officeart/2016/7/layout/LinearBlockProcessNumbered"/>
    <dgm:cxn modelId="{833F041A-985B-144E-8329-9FE39D9B8E68}" type="presOf" srcId="{E4FED892-3FE1-43CD-89E6-D0D6DFEDF3D1}" destId="{ED5981C4-0B22-1A49-B8F1-A3C12013485F}" srcOrd="0" destOrd="0" presId="urn:microsoft.com/office/officeart/2016/7/layout/LinearBlockProcessNumbered"/>
    <dgm:cxn modelId="{862F4532-E8A2-434E-B0B8-F157FD504D9C}" type="presOf" srcId="{F6FEE474-6BD9-495E-9C1E-47AD2644C65C}" destId="{319B10FE-11CD-824C-A052-A4387A465DF0}" srcOrd="1" destOrd="0" presId="urn:microsoft.com/office/officeart/2016/7/layout/LinearBlockProcessNumbered"/>
    <dgm:cxn modelId="{C93D2942-BB57-4BD4-BAB6-595F9977188E}" srcId="{41CEDFAB-88C2-49DB-8800-2C815AE28DE7}" destId="{219A133C-9D8C-4BD4-B584-06A2AC5D4041}" srcOrd="2" destOrd="0" parTransId="{B523561C-E48A-43DF-A277-7A133223A04C}" sibTransId="{E4FED892-3FE1-43CD-89E6-D0D6DFEDF3D1}"/>
    <dgm:cxn modelId="{C96F9943-A28F-6440-9AEA-42E45E48D66D}" type="presOf" srcId="{6C457428-5521-4C97-8118-E3547DC0831B}" destId="{78201B38-0E3E-2D4B-8BB0-CB924DE708BC}" srcOrd="1" destOrd="0" presId="urn:microsoft.com/office/officeart/2016/7/layout/LinearBlockProcessNumbered"/>
    <dgm:cxn modelId="{7F308245-5735-9E44-BB9A-78A059D030AE}" type="presOf" srcId="{A99C376C-ED58-4777-B85B-6CFC9679F8E9}" destId="{250CD26C-5B02-604E-B41C-CEA84ABE82CB}" srcOrd="0" destOrd="0" presId="urn:microsoft.com/office/officeart/2016/7/layout/LinearBlockProcessNumbered"/>
    <dgm:cxn modelId="{6DB0BE4D-700C-7A43-8187-12D9DAFDFFB0}" type="presOf" srcId="{6C457428-5521-4C97-8118-E3547DC0831B}" destId="{A5567F20-9561-D44C-929E-C9EC6158783C}" srcOrd="0" destOrd="0" presId="urn:microsoft.com/office/officeart/2016/7/layout/LinearBlockProcessNumbered"/>
    <dgm:cxn modelId="{C27A0B58-5D81-CF48-B275-05ACF8D06970}" type="presOf" srcId="{219A133C-9D8C-4BD4-B584-06A2AC5D4041}" destId="{1FC219B9-3162-B840-AB46-FBE49B699CEC}" srcOrd="0" destOrd="0" presId="urn:microsoft.com/office/officeart/2016/7/layout/LinearBlockProcessNumbered"/>
    <dgm:cxn modelId="{F886AE75-8C0E-5D44-B9C5-F93CCD1E4A8E}" type="presOf" srcId="{E4A54C99-5A2C-4A08-86A7-212BB835BB69}" destId="{80FE2FF8-BF06-234A-BC6E-CF9AB6E040B1}" srcOrd="0" destOrd="0" presId="urn:microsoft.com/office/officeart/2016/7/layout/LinearBlockProcessNumbered"/>
    <dgm:cxn modelId="{A40C7586-6CFF-422E-9C0B-B85D4340AAC5}" srcId="{41CEDFAB-88C2-49DB-8800-2C815AE28DE7}" destId="{6C457428-5521-4C97-8118-E3547DC0831B}" srcOrd="0" destOrd="0" parTransId="{8DB17D63-DD93-410B-881D-6893EBFD548E}" sibTransId="{A99C376C-ED58-4777-B85B-6CFC9679F8E9}"/>
    <dgm:cxn modelId="{1C96738C-B499-4AA9-8ADA-A397AEF0949B}" srcId="{41CEDFAB-88C2-49DB-8800-2C815AE28DE7}" destId="{928B78CF-55B0-4680-80F8-E13F7D7513F7}" srcOrd="1" destOrd="0" parTransId="{6D4385DC-D0BF-4EFF-971B-AC01BA60A139}" sibTransId="{E4A54C99-5A2C-4A08-86A7-212BB835BB69}"/>
    <dgm:cxn modelId="{71DD3190-35EC-40FA-A39F-9480F548680E}" srcId="{41CEDFAB-88C2-49DB-8800-2C815AE28DE7}" destId="{B0C79001-6D72-4370-82CC-6803413CC0D6}" srcOrd="4" destOrd="0" parTransId="{0202F394-348D-4C44-9C19-688AB74F60BB}" sibTransId="{7AA1A420-DAFD-4D52-9491-F68607592092}"/>
    <dgm:cxn modelId="{1D6B93A3-908A-F44C-AC4E-53473F66EC01}" type="presOf" srcId="{B0C79001-6D72-4370-82CC-6803413CC0D6}" destId="{858133E3-8ACE-7245-9A0C-BE617FB48D37}" srcOrd="1" destOrd="0" presId="urn:microsoft.com/office/officeart/2016/7/layout/LinearBlockProcessNumbered"/>
    <dgm:cxn modelId="{B1934FAD-60A9-8A4C-9117-50066E86898F}" type="presOf" srcId="{B0C79001-6D72-4370-82CC-6803413CC0D6}" destId="{C25BE73B-839B-CD45-8E91-5694CFE789B7}" srcOrd="0" destOrd="0" presId="urn:microsoft.com/office/officeart/2016/7/layout/LinearBlockProcessNumbered"/>
    <dgm:cxn modelId="{57A216B3-11CE-6E4C-9BEF-C9C769A08389}" type="presOf" srcId="{41CEDFAB-88C2-49DB-8800-2C815AE28DE7}" destId="{D9DDC014-19C3-234D-AB7F-2CED8B72D3DD}" srcOrd="0" destOrd="0" presId="urn:microsoft.com/office/officeart/2016/7/layout/LinearBlockProcessNumbered"/>
    <dgm:cxn modelId="{00CD61C0-031B-C442-ACFC-775E3ECCF44F}" type="presOf" srcId="{7EED52EE-5E98-4759-B9ED-58CC0C20C54A}" destId="{CB9525A0-24AF-2545-8515-B908F7EEAD00}" srcOrd="0" destOrd="0" presId="urn:microsoft.com/office/officeart/2016/7/layout/LinearBlockProcessNumbered"/>
    <dgm:cxn modelId="{5340B6C4-252E-4D00-816F-CBB4062BA117}" srcId="{41CEDFAB-88C2-49DB-8800-2C815AE28DE7}" destId="{F6FEE474-6BD9-495E-9C1E-47AD2644C65C}" srcOrd="3" destOrd="0" parTransId="{82158E33-4744-484C-B9FC-CF8A75A16CE7}" sibTransId="{7EED52EE-5E98-4759-B9ED-58CC0C20C54A}"/>
    <dgm:cxn modelId="{8CFC79C9-AF17-9B42-AD8C-802FB0A7E656}" type="presOf" srcId="{928B78CF-55B0-4680-80F8-E13F7D7513F7}" destId="{F0C84D23-0BA6-B040-8F99-A2A7F7E7510A}" srcOrd="1" destOrd="0" presId="urn:microsoft.com/office/officeart/2016/7/layout/LinearBlockProcessNumbered"/>
    <dgm:cxn modelId="{3DA850CA-AC0F-994C-8191-744187AC34C6}" type="presOf" srcId="{219A133C-9D8C-4BD4-B584-06A2AC5D4041}" destId="{1C93860A-E5B8-E346-B148-BFA987CDEA95}" srcOrd="1" destOrd="0" presId="urn:microsoft.com/office/officeart/2016/7/layout/LinearBlockProcessNumbered"/>
    <dgm:cxn modelId="{3E7D2DE3-8185-DC40-AF19-868681EB51D3}" type="presOf" srcId="{7AA1A420-DAFD-4D52-9491-F68607592092}" destId="{78FBE71E-4117-7847-A867-F0B0C605DCAE}" srcOrd="0" destOrd="0" presId="urn:microsoft.com/office/officeart/2016/7/layout/LinearBlockProcessNumbered"/>
    <dgm:cxn modelId="{568434F3-90D3-E74D-9D8D-08D841EFF1C0}" type="presOf" srcId="{F6FEE474-6BD9-495E-9C1E-47AD2644C65C}" destId="{AEBA4282-0E11-5842-86C8-4ED1BB78DA22}" srcOrd="0" destOrd="0" presId="urn:microsoft.com/office/officeart/2016/7/layout/LinearBlockProcessNumbered"/>
    <dgm:cxn modelId="{A57377CD-8FB1-7A42-B02D-4D37B3CC8F08}" type="presParOf" srcId="{D9DDC014-19C3-234D-AB7F-2CED8B72D3DD}" destId="{33EA588A-2E46-1045-92DD-CE093C129541}" srcOrd="0" destOrd="0" presId="urn:microsoft.com/office/officeart/2016/7/layout/LinearBlockProcessNumbered"/>
    <dgm:cxn modelId="{4E83529D-5363-7E4C-AA11-6B000E07E78B}" type="presParOf" srcId="{33EA588A-2E46-1045-92DD-CE093C129541}" destId="{A5567F20-9561-D44C-929E-C9EC6158783C}" srcOrd="0" destOrd="0" presId="urn:microsoft.com/office/officeart/2016/7/layout/LinearBlockProcessNumbered"/>
    <dgm:cxn modelId="{47EC4236-E5F6-0645-A3EF-7203327B5DD9}" type="presParOf" srcId="{33EA588A-2E46-1045-92DD-CE093C129541}" destId="{250CD26C-5B02-604E-B41C-CEA84ABE82CB}" srcOrd="1" destOrd="0" presId="urn:microsoft.com/office/officeart/2016/7/layout/LinearBlockProcessNumbered"/>
    <dgm:cxn modelId="{37698927-45B8-5443-BB97-0815CC41D349}" type="presParOf" srcId="{33EA588A-2E46-1045-92DD-CE093C129541}" destId="{78201B38-0E3E-2D4B-8BB0-CB924DE708BC}" srcOrd="2" destOrd="0" presId="urn:microsoft.com/office/officeart/2016/7/layout/LinearBlockProcessNumbered"/>
    <dgm:cxn modelId="{603A69D3-D496-A043-9591-021D3CA6F21A}" type="presParOf" srcId="{D9DDC014-19C3-234D-AB7F-2CED8B72D3DD}" destId="{F5700AEF-F02D-9F45-966B-EE400F378C15}" srcOrd="1" destOrd="0" presId="urn:microsoft.com/office/officeart/2016/7/layout/LinearBlockProcessNumbered"/>
    <dgm:cxn modelId="{BD3D2E7A-0772-D04F-89DD-71551B11A229}" type="presParOf" srcId="{D9DDC014-19C3-234D-AB7F-2CED8B72D3DD}" destId="{665D9DD2-0CF4-0544-AB8C-EC5505B904CF}" srcOrd="2" destOrd="0" presId="urn:microsoft.com/office/officeart/2016/7/layout/LinearBlockProcessNumbered"/>
    <dgm:cxn modelId="{83C8450D-17BA-5346-94D9-5D10295C19E5}" type="presParOf" srcId="{665D9DD2-0CF4-0544-AB8C-EC5505B904CF}" destId="{3EAACC10-D6EF-EB43-8933-70D61028DEC0}" srcOrd="0" destOrd="0" presId="urn:microsoft.com/office/officeart/2016/7/layout/LinearBlockProcessNumbered"/>
    <dgm:cxn modelId="{1745852A-92F9-7347-ADE8-09C35D4F236A}" type="presParOf" srcId="{665D9DD2-0CF4-0544-AB8C-EC5505B904CF}" destId="{80FE2FF8-BF06-234A-BC6E-CF9AB6E040B1}" srcOrd="1" destOrd="0" presId="urn:microsoft.com/office/officeart/2016/7/layout/LinearBlockProcessNumbered"/>
    <dgm:cxn modelId="{970AC47F-3F80-5B49-822B-4CE810BE0A0D}" type="presParOf" srcId="{665D9DD2-0CF4-0544-AB8C-EC5505B904CF}" destId="{F0C84D23-0BA6-B040-8F99-A2A7F7E7510A}" srcOrd="2" destOrd="0" presId="urn:microsoft.com/office/officeart/2016/7/layout/LinearBlockProcessNumbered"/>
    <dgm:cxn modelId="{4B822901-F8D6-0242-A9F4-0FF06A01AB6B}" type="presParOf" srcId="{D9DDC014-19C3-234D-AB7F-2CED8B72D3DD}" destId="{D0EE5C36-E33C-BE42-A9C4-C5771224A8ED}" srcOrd="3" destOrd="0" presId="urn:microsoft.com/office/officeart/2016/7/layout/LinearBlockProcessNumbered"/>
    <dgm:cxn modelId="{1F5ECFC0-2864-AA46-9BB1-5C68D2A8589F}" type="presParOf" srcId="{D9DDC014-19C3-234D-AB7F-2CED8B72D3DD}" destId="{7588EDA4-D1DD-0748-A495-9806628FBEB2}" srcOrd="4" destOrd="0" presId="urn:microsoft.com/office/officeart/2016/7/layout/LinearBlockProcessNumbered"/>
    <dgm:cxn modelId="{8E048B82-F6F5-4349-BD2B-51136D81C53E}" type="presParOf" srcId="{7588EDA4-D1DD-0748-A495-9806628FBEB2}" destId="{1FC219B9-3162-B840-AB46-FBE49B699CEC}" srcOrd="0" destOrd="0" presId="urn:microsoft.com/office/officeart/2016/7/layout/LinearBlockProcessNumbered"/>
    <dgm:cxn modelId="{95B9AD73-BEF7-C84C-B607-8723F5F225B6}" type="presParOf" srcId="{7588EDA4-D1DD-0748-A495-9806628FBEB2}" destId="{ED5981C4-0B22-1A49-B8F1-A3C12013485F}" srcOrd="1" destOrd="0" presId="urn:microsoft.com/office/officeart/2016/7/layout/LinearBlockProcessNumbered"/>
    <dgm:cxn modelId="{7A3A78D3-BD27-2041-9EF1-4E6829AF0662}" type="presParOf" srcId="{7588EDA4-D1DD-0748-A495-9806628FBEB2}" destId="{1C93860A-E5B8-E346-B148-BFA987CDEA95}" srcOrd="2" destOrd="0" presId="urn:microsoft.com/office/officeart/2016/7/layout/LinearBlockProcessNumbered"/>
    <dgm:cxn modelId="{2ABD2EDF-3189-554C-899A-31014F2D7DC9}" type="presParOf" srcId="{D9DDC014-19C3-234D-AB7F-2CED8B72D3DD}" destId="{3541BDB4-AB3F-6D46-9699-468EE6C46E41}" srcOrd="5" destOrd="0" presId="urn:microsoft.com/office/officeart/2016/7/layout/LinearBlockProcessNumbered"/>
    <dgm:cxn modelId="{2AC679F0-188C-1845-B5EC-BE2D5A5BE49E}" type="presParOf" srcId="{D9DDC014-19C3-234D-AB7F-2CED8B72D3DD}" destId="{E94DA432-5C17-644B-8EF2-23CB8D4918AE}" srcOrd="6" destOrd="0" presId="urn:microsoft.com/office/officeart/2016/7/layout/LinearBlockProcessNumbered"/>
    <dgm:cxn modelId="{577E3CCA-7C02-114E-9148-4D090998923F}" type="presParOf" srcId="{E94DA432-5C17-644B-8EF2-23CB8D4918AE}" destId="{AEBA4282-0E11-5842-86C8-4ED1BB78DA22}" srcOrd="0" destOrd="0" presId="urn:microsoft.com/office/officeart/2016/7/layout/LinearBlockProcessNumbered"/>
    <dgm:cxn modelId="{41F6FF6F-1705-AE4E-93B1-66D849AEE306}" type="presParOf" srcId="{E94DA432-5C17-644B-8EF2-23CB8D4918AE}" destId="{CB9525A0-24AF-2545-8515-B908F7EEAD00}" srcOrd="1" destOrd="0" presId="urn:microsoft.com/office/officeart/2016/7/layout/LinearBlockProcessNumbered"/>
    <dgm:cxn modelId="{C3BDCF7C-D388-F24F-80CC-C7FD871F7E46}" type="presParOf" srcId="{E94DA432-5C17-644B-8EF2-23CB8D4918AE}" destId="{319B10FE-11CD-824C-A052-A4387A465DF0}" srcOrd="2" destOrd="0" presId="urn:microsoft.com/office/officeart/2016/7/layout/LinearBlockProcessNumbered"/>
    <dgm:cxn modelId="{BC98D507-0136-4041-B673-D82802D2D43E}" type="presParOf" srcId="{D9DDC014-19C3-234D-AB7F-2CED8B72D3DD}" destId="{08DA78CA-DCF0-4E41-849F-98929F1D57F8}" srcOrd="7" destOrd="0" presId="urn:microsoft.com/office/officeart/2016/7/layout/LinearBlockProcessNumbered"/>
    <dgm:cxn modelId="{E5566F1F-9032-1448-B54E-5A459B613B1F}" type="presParOf" srcId="{D9DDC014-19C3-234D-AB7F-2CED8B72D3DD}" destId="{D721A34D-2B6F-2A48-BF92-66AE0895B4B0}" srcOrd="8" destOrd="0" presId="urn:microsoft.com/office/officeart/2016/7/layout/LinearBlockProcessNumbered"/>
    <dgm:cxn modelId="{F82BBFE9-C9BE-2742-BE0D-CAC7253C7D50}" type="presParOf" srcId="{D721A34D-2B6F-2A48-BF92-66AE0895B4B0}" destId="{C25BE73B-839B-CD45-8E91-5694CFE789B7}" srcOrd="0" destOrd="0" presId="urn:microsoft.com/office/officeart/2016/7/layout/LinearBlockProcessNumbered"/>
    <dgm:cxn modelId="{6B20EB05-28D0-8B40-965F-5E432602891D}" type="presParOf" srcId="{D721A34D-2B6F-2A48-BF92-66AE0895B4B0}" destId="{78FBE71E-4117-7847-A867-F0B0C605DCAE}" srcOrd="1" destOrd="0" presId="urn:microsoft.com/office/officeart/2016/7/layout/LinearBlockProcessNumbered"/>
    <dgm:cxn modelId="{DC2E3E4D-F94D-5B42-9B8E-CB09D41BC9CC}" type="presParOf" srcId="{D721A34D-2B6F-2A48-BF92-66AE0895B4B0}" destId="{858133E3-8ACE-7245-9A0C-BE617FB48D3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67F20-9561-D44C-929E-C9EC6158783C}">
      <dsp:nvSpPr>
        <dsp:cNvPr id="0" name=""/>
        <dsp:cNvSpPr/>
      </dsp:nvSpPr>
      <dsp:spPr>
        <a:xfrm>
          <a:off x="6315" y="991123"/>
          <a:ext cx="1974242" cy="23690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/>
            <a:t>Motivation &amp; Prior Research</a:t>
          </a:r>
          <a:endParaRPr lang="en-US" sz="2200" kern="1200" dirty="0"/>
        </a:p>
      </dsp:txBody>
      <dsp:txXfrm>
        <a:off x="6315" y="1938759"/>
        <a:ext cx="1974242" cy="1421454"/>
      </dsp:txXfrm>
    </dsp:sp>
    <dsp:sp modelId="{250CD26C-5B02-604E-B41C-CEA84ABE82CB}">
      <dsp:nvSpPr>
        <dsp:cNvPr id="0" name=""/>
        <dsp:cNvSpPr/>
      </dsp:nvSpPr>
      <dsp:spPr>
        <a:xfrm>
          <a:off x="6315" y="991123"/>
          <a:ext cx="1974242" cy="94763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01</a:t>
          </a:r>
        </a:p>
      </dsp:txBody>
      <dsp:txXfrm>
        <a:off x="6315" y="991123"/>
        <a:ext cx="1974242" cy="947636"/>
      </dsp:txXfrm>
    </dsp:sp>
    <dsp:sp modelId="{3EAACC10-D6EF-EB43-8933-70D61028DEC0}">
      <dsp:nvSpPr>
        <dsp:cNvPr id="0" name=""/>
        <dsp:cNvSpPr/>
      </dsp:nvSpPr>
      <dsp:spPr>
        <a:xfrm>
          <a:off x="2138497" y="991123"/>
          <a:ext cx="1974242" cy="23690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Data &amp; Timing Logic</a:t>
          </a:r>
          <a:endParaRPr lang="en-US" sz="2200" kern="1200"/>
        </a:p>
      </dsp:txBody>
      <dsp:txXfrm>
        <a:off x="2138497" y="1938759"/>
        <a:ext cx="1974242" cy="1421454"/>
      </dsp:txXfrm>
    </dsp:sp>
    <dsp:sp modelId="{80FE2FF8-BF06-234A-BC6E-CF9AB6E040B1}">
      <dsp:nvSpPr>
        <dsp:cNvPr id="0" name=""/>
        <dsp:cNvSpPr/>
      </dsp:nvSpPr>
      <dsp:spPr>
        <a:xfrm>
          <a:off x="2138497" y="991123"/>
          <a:ext cx="1974242" cy="94763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02</a:t>
          </a:r>
        </a:p>
      </dsp:txBody>
      <dsp:txXfrm>
        <a:off x="2138497" y="991123"/>
        <a:ext cx="1974242" cy="947636"/>
      </dsp:txXfrm>
    </dsp:sp>
    <dsp:sp modelId="{1FC219B9-3162-B840-AB46-FBE49B699CEC}">
      <dsp:nvSpPr>
        <dsp:cNvPr id="0" name=""/>
        <dsp:cNvSpPr/>
      </dsp:nvSpPr>
      <dsp:spPr>
        <a:xfrm>
          <a:off x="4270678" y="991123"/>
          <a:ext cx="1974242" cy="23690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Econometric Models</a:t>
          </a:r>
          <a:endParaRPr lang="en-US" sz="2200" kern="1200"/>
        </a:p>
      </dsp:txBody>
      <dsp:txXfrm>
        <a:off x="4270678" y="1938759"/>
        <a:ext cx="1974242" cy="1421454"/>
      </dsp:txXfrm>
    </dsp:sp>
    <dsp:sp modelId="{ED5981C4-0B22-1A49-B8F1-A3C12013485F}">
      <dsp:nvSpPr>
        <dsp:cNvPr id="0" name=""/>
        <dsp:cNvSpPr/>
      </dsp:nvSpPr>
      <dsp:spPr>
        <a:xfrm>
          <a:off x="4270678" y="991123"/>
          <a:ext cx="1974242" cy="94763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03</a:t>
          </a:r>
        </a:p>
      </dsp:txBody>
      <dsp:txXfrm>
        <a:off x="4270678" y="991123"/>
        <a:ext cx="1974242" cy="947636"/>
      </dsp:txXfrm>
    </dsp:sp>
    <dsp:sp modelId="{AEBA4282-0E11-5842-86C8-4ED1BB78DA22}">
      <dsp:nvSpPr>
        <dsp:cNvPr id="0" name=""/>
        <dsp:cNvSpPr/>
      </dsp:nvSpPr>
      <dsp:spPr>
        <a:xfrm>
          <a:off x="6402860" y="991123"/>
          <a:ext cx="1974242" cy="23690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Nowcasting Results</a:t>
          </a:r>
          <a:endParaRPr lang="en-US" sz="2200" kern="1200"/>
        </a:p>
      </dsp:txBody>
      <dsp:txXfrm>
        <a:off x="6402860" y="1938759"/>
        <a:ext cx="1974242" cy="1421454"/>
      </dsp:txXfrm>
    </dsp:sp>
    <dsp:sp modelId="{CB9525A0-24AF-2545-8515-B908F7EEAD00}">
      <dsp:nvSpPr>
        <dsp:cNvPr id="0" name=""/>
        <dsp:cNvSpPr/>
      </dsp:nvSpPr>
      <dsp:spPr>
        <a:xfrm>
          <a:off x="6402860" y="991123"/>
          <a:ext cx="1974242" cy="94763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04</a:t>
          </a:r>
        </a:p>
      </dsp:txBody>
      <dsp:txXfrm>
        <a:off x="6402860" y="991123"/>
        <a:ext cx="1974242" cy="947636"/>
      </dsp:txXfrm>
    </dsp:sp>
    <dsp:sp modelId="{C25BE73B-839B-CD45-8E91-5694CFE789B7}">
      <dsp:nvSpPr>
        <dsp:cNvPr id="0" name=""/>
        <dsp:cNvSpPr/>
      </dsp:nvSpPr>
      <dsp:spPr>
        <a:xfrm>
          <a:off x="8535042" y="991123"/>
          <a:ext cx="1974242" cy="23690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0" rIns="19501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/>
            <a:t>Discussion &amp; Conclusion</a:t>
          </a:r>
          <a:endParaRPr lang="en-US" sz="2200" kern="1200"/>
        </a:p>
      </dsp:txBody>
      <dsp:txXfrm>
        <a:off x="8535042" y="1938759"/>
        <a:ext cx="1974242" cy="1421454"/>
      </dsp:txXfrm>
    </dsp:sp>
    <dsp:sp modelId="{78FBE71E-4117-7847-A867-F0B0C605DCAE}">
      <dsp:nvSpPr>
        <dsp:cNvPr id="0" name=""/>
        <dsp:cNvSpPr/>
      </dsp:nvSpPr>
      <dsp:spPr>
        <a:xfrm>
          <a:off x="8535042" y="991123"/>
          <a:ext cx="1974242" cy="94763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011" tIns="165100" rIns="195011" bIns="16510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05</a:t>
          </a:r>
        </a:p>
      </dsp:txBody>
      <dsp:txXfrm>
        <a:off x="8535042" y="991123"/>
        <a:ext cx="1974242" cy="947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C672B0-F203-984E-0224-6797C9EC8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7CD004-B43B-041A-CFAF-87ADD97A1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29126C-945A-1D1F-7D2C-5F8703C44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D12BA8-D866-BC6D-6767-FDE91099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F76181-548B-E8B8-51CB-CC010132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45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C6BAC-8377-C8F3-6E74-E6736A9A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EA8059-D417-595A-DD88-A11CFFC46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C50D2A-D555-157A-EC94-CD2711E3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69FF93-B082-783C-C568-21B85552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B40C49-E993-5619-9EC8-81F8C249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9565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4F875-F217-4248-F7C0-B816B4A9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0AF034-6FBE-A4B3-B3AF-A31B58559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21485B-3DE8-3FCC-CFDA-BF2B5E3E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34BE31-DBD5-6FD9-4DB7-EC3AC96A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A8F4229-4DA0-3051-F6F9-29A16032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43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C54391-2D14-4BC8-D919-784A27129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A48709-61AD-33C3-007F-ABB23B1BA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4C4BED-E1D8-EE7C-3277-F8FCA3751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D5E9CF-745A-AED3-174B-49511DAD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9A5200-4F2C-57EB-1DF2-C082AF79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0D308C-A698-6995-63B9-937F0E0A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891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88C4-0992-F599-4F13-921EE234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7256399-A213-3395-763B-51FC9FF2C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9FB7DF-2765-4552-9249-9A593B5E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E6147A-3BAD-1858-4075-EB5853715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6E6B48-F0E5-5244-B218-ED993AFC0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19DA3DE-1B23-0BC8-06E3-E0EF3C6A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156EECD-52DA-87F9-BA86-FF6F1EAC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081D44C-E6C8-6F58-4BC6-58F3783C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246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7993CA-2932-5357-6DE2-799574303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8132CE-0405-9D73-975D-77A9F0E26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121808-AFED-783A-0EA3-A5187A70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4A1710-DE67-C35B-048B-65663FE0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22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BF215FD-7D41-DEE6-99C5-D02E155D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ED42695-38EA-F64F-04ED-5B1F93704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AFF7D2-C3BF-FBC7-337B-DFE4E7CF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735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952B28-E898-90A6-D9D4-83446EEC2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35FD41-DBD4-B017-34C1-C5D9071B3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AD1885-0ADC-CB59-31AD-3206F8C27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D3DAF4-6C85-477E-F5D1-8FFEE88C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BE3BF3-CA6C-711F-50F2-D76946CE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F5C450-4212-915D-6181-CCF5D594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17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432EC-D39A-BD77-127C-E9852C48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FECAD57-AAA6-0255-A7A3-E42F39CBC7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F36F17-F89C-45A4-B380-224135D05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644BB9-40EF-A5B4-5BE5-9CAE173F6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0D8BB7-2AA1-A0AD-7E51-476DA1E5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8365E3-EFB3-4025-6F08-9E5A2345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12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02A0C-0FD4-5E26-D0E1-C7244A61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F70A0A-17D7-876C-2BA3-F962472A7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52F5AA-1EF6-38CE-9B16-0FD71820A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A11A67-934C-CF5D-7AF4-5A11D50F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CF0C74-5845-4AD9-2B24-1748C132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85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C7197F1-1E6F-59A9-F71D-D6ABBC079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BBA16D7-D8D5-03EC-A52F-932A284FF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654AA8-08B7-6C09-2499-0969CDE73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030948-24EB-49B2-8E03-D37A6CD3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FDFEBE-007F-8F3B-1B42-4963DFCC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36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25A1A6-E359-3BB2-FEB9-1F072B010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B83E1C-4A59-F11C-3FA8-7CF9CE498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EFE9D5-18CB-AEDF-5137-A5F3376A4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14655F-E9CD-384C-9315-62A20175F46A}" type="datetimeFigureOut">
              <a:rPr lang="de-DE" smtClean="0"/>
              <a:t>17.12.25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CA22CA-2716-5A5A-CB99-9951A000D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84063C-37A7-1DA1-0C02-7B1396D56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9C07D-5A7D-D149-948B-546BB84E40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16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5BE9930-0918-145C-6D22-99E1077F8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pPr algn="l"/>
            <a:r>
              <a:rPr lang="de-DE" sz="6800" dirty="0" err="1"/>
              <a:t>Using</a:t>
            </a:r>
            <a:r>
              <a:rPr lang="de-DE" sz="6800" dirty="0"/>
              <a:t> Google Search Data </a:t>
            </a:r>
            <a:r>
              <a:rPr lang="de-DE" sz="6800" dirty="0" err="1"/>
              <a:t>to</a:t>
            </a:r>
            <a:r>
              <a:rPr lang="de-DE" sz="6800" dirty="0"/>
              <a:t> </a:t>
            </a:r>
            <a:r>
              <a:rPr lang="de-DE" sz="6800" dirty="0" err="1"/>
              <a:t>Nowcast</a:t>
            </a:r>
            <a:r>
              <a:rPr lang="de-DE" sz="6800" dirty="0"/>
              <a:t> German </a:t>
            </a:r>
            <a:r>
              <a:rPr lang="de-DE" sz="6800" dirty="0" err="1"/>
              <a:t>Unemployment</a:t>
            </a:r>
            <a:endParaRPr lang="de-DE" sz="68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DF2122-55D1-6805-B37A-4EF277B2C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pPr algn="l"/>
            <a:r>
              <a:rPr lang="de-DE" sz="2600" dirty="0"/>
              <a:t>Alexander Unger</a:t>
            </a:r>
          </a:p>
          <a:p>
            <a:pPr algn="l"/>
            <a:r>
              <a:rPr lang="de-DE" sz="2600" dirty="0"/>
              <a:t>Universität Tübingen</a:t>
            </a:r>
          </a:p>
          <a:p>
            <a:pPr algn="l"/>
            <a:r>
              <a:rPr lang="de-DE" sz="2600" dirty="0"/>
              <a:t>Master Seminar </a:t>
            </a:r>
            <a:r>
              <a:rPr lang="de-DE" sz="2600" dirty="0" err="1"/>
              <a:t>Econometrics</a:t>
            </a:r>
            <a:r>
              <a:rPr lang="de-DE" sz="2600" dirty="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42554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771174-4BB7-7BBC-1295-401614F6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de-DE" sz="5200"/>
              <a:t>Structure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7ECBE613-35DA-7A09-1813-7C03D07CC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2807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299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8D14668-6172-FDF1-2CCD-EA474D44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r>
              <a:rPr lang="de-DE" sz="520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11A20C-4D73-C4C0-954A-055CB7F2C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8626"/>
            <a:ext cx="5158427" cy="3730460"/>
          </a:xfrm>
        </p:spPr>
        <p:txBody>
          <a:bodyPr>
            <a:normAutofit/>
          </a:bodyPr>
          <a:lstStyle/>
          <a:p>
            <a:r>
              <a:rPr lang="de-DE" sz="1600"/>
              <a:t>Problem</a:t>
            </a:r>
          </a:p>
          <a:p>
            <a:pPr marL="0" indent="0">
              <a:buNone/>
            </a:pPr>
            <a:r>
              <a:rPr lang="de-DE" sz="1600"/>
              <a:t>- Key labor indicators (e.g. unemployment) are published with delay</a:t>
            </a:r>
          </a:p>
          <a:p>
            <a:pPr>
              <a:buFontTx/>
              <a:buChar char="-"/>
            </a:pPr>
            <a:r>
              <a:rPr lang="de-DE" sz="1600"/>
              <a:t>Information gaps are most severe during crises (e.g. COVID-19) </a:t>
            </a:r>
          </a:p>
          <a:p>
            <a:pPr>
              <a:buFontTx/>
              <a:buChar char="-"/>
            </a:pPr>
            <a:endParaRPr lang="de-DE" sz="1600"/>
          </a:p>
          <a:p>
            <a:r>
              <a:rPr lang="de-DE" sz="1600"/>
              <a:t>Idea</a:t>
            </a:r>
          </a:p>
          <a:p>
            <a:pPr>
              <a:buFontTx/>
              <a:buChar char="-"/>
            </a:pPr>
            <a:r>
              <a:rPr lang="de-DE" sz="1600"/>
              <a:t>High-frequency digital traces capture labor-market stress in real time</a:t>
            </a:r>
          </a:p>
          <a:p>
            <a:pPr>
              <a:buFontTx/>
              <a:buChar char="-"/>
            </a:pPr>
            <a:r>
              <a:rPr lang="de-DE" sz="1600"/>
              <a:t>Google search activity reflects information-seeking before official releases</a:t>
            </a:r>
          </a:p>
          <a:p>
            <a:pPr marL="0" indent="0">
              <a:buNone/>
            </a:pPr>
            <a:r>
              <a:rPr lang="de-DE" sz="1600"/>
              <a:t> </a:t>
            </a:r>
          </a:p>
          <a:p>
            <a:pPr marL="0" indent="0">
              <a:buNone/>
            </a:pPr>
            <a:endParaRPr lang="de-DE" sz="160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76C27B-8ACE-FE7F-B882-45D729AAA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154" y="2398626"/>
            <a:ext cx="5164645" cy="3730460"/>
          </a:xfrm>
        </p:spPr>
        <p:txBody>
          <a:bodyPr>
            <a:normAutofit/>
          </a:bodyPr>
          <a:lstStyle/>
          <a:p>
            <a:r>
              <a:rPr lang="de-DE" sz="1700"/>
              <a:t>Why is Germany so special ?</a:t>
            </a:r>
          </a:p>
          <a:p>
            <a:pPr>
              <a:buFontTx/>
              <a:buChar char="-"/>
            </a:pPr>
            <a:r>
              <a:rPr lang="de-DE" sz="1700"/>
              <a:t>German unemployment is measured using a fixed reference point</a:t>
            </a:r>
          </a:p>
          <a:p>
            <a:pPr>
              <a:buFontTx/>
              <a:buChar char="-"/>
            </a:pPr>
            <a:r>
              <a:rPr lang="de-DE" sz="1700"/>
              <a:t>Timing of high-frequency indicators is therefore crucial</a:t>
            </a:r>
          </a:p>
          <a:p>
            <a:pPr>
              <a:buFontTx/>
              <a:buChar char="-"/>
            </a:pPr>
            <a:endParaRPr lang="de-DE" sz="1700"/>
          </a:p>
          <a:p>
            <a:r>
              <a:rPr lang="de-DE" sz="1700"/>
              <a:t>Research gap</a:t>
            </a:r>
          </a:p>
          <a:p>
            <a:pPr>
              <a:buFontTx/>
              <a:buChar char="-"/>
            </a:pPr>
            <a:r>
              <a:rPr lang="de-DE" sz="1700"/>
              <a:t>Little recent evidence for Germany using up-to-date Google trends data </a:t>
            </a:r>
          </a:p>
          <a:p>
            <a:pPr>
              <a:buFontTx/>
              <a:buChar char="-"/>
            </a:pPr>
            <a:r>
              <a:rPr lang="de-DE" sz="1700"/>
              <a:t>Unclear whether aggregation looses predictive information compared to high frequency</a:t>
            </a:r>
          </a:p>
        </p:txBody>
      </p:sp>
    </p:spTree>
    <p:extLst>
      <p:ext uri="{BB962C8B-B14F-4D97-AF65-F5344CB8AC3E}">
        <p14:creationId xmlns:p14="http://schemas.microsoft.com/office/powerpoint/2010/main" val="842291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2D8929-DDB0-1295-4A59-37D7A264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Research Questions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CED763-1D24-A790-F14F-A46D6F85C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 dirty="0"/>
              <a:t>Do </a:t>
            </a:r>
            <a:r>
              <a:rPr lang="de-DE" dirty="0" err="1"/>
              <a:t>biweekly</a:t>
            </a:r>
            <a:r>
              <a:rPr lang="de-DE" dirty="0"/>
              <a:t> GT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nowcasts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german</a:t>
            </a:r>
            <a:r>
              <a:rPr lang="de-DE" dirty="0"/>
              <a:t> </a:t>
            </a:r>
            <a:r>
              <a:rPr lang="de-DE" dirty="0" err="1"/>
              <a:t>unemployment</a:t>
            </a:r>
            <a:r>
              <a:rPr lang="de-DE" dirty="0"/>
              <a:t> </a:t>
            </a:r>
            <a:r>
              <a:rPr lang="de-DE" dirty="0" err="1"/>
              <a:t>compared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simple AR benchmark</a:t>
            </a:r>
          </a:p>
          <a:p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biweekly</a:t>
            </a:r>
            <a:r>
              <a:rPr lang="de-DE" dirty="0"/>
              <a:t> </a:t>
            </a:r>
            <a:r>
              <a:rPr lang="de-DE" dirty="0" err="1"/>
              <a:t>aggregation</a:t>
            </a:r>
            <a:r>
              <a:rPr lang="de-DE" dirty="0"/>
              <a:t> </a:t>
            </a:r>
            <a:r>
              <a:rPr lang="de-DE" dirty="0" err="1"/>
              <a:t>discard</a:t>
            </a:r>
            <a:r>
              <a:rPr lang="de-DE" dirty="0"/>
              <a:t> </a:t>
            </a:r>
            <a:r>
              <a:rPr lang="de-DE" dirty="0" err="1"/>
              <a:t>usefull</a:t>
            </a:r>
            <a:r>
              <a:rPr lang="de-DE" dirty="0"/>
              <a:t> </a:t>
            </a:r>
            <a:r>
              <a:rPr lang="de-DE" dirty="0" err="1"/>
              <a:t>signals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captured</a:t>
            </a:r>
            <a:r>
              <a:rPr lang="de-DE" dirty="0"/>
              <a:t> in high </a:t>
            </a:r>
            <a:r>
              <a:rPr lang="de-DE" dirty="0" err="1"/>
              <a:t>frequency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such </a:t>
            </a:r>
            <a:r>
              <a:rPr lang="de-DE" dirty="0" err="1"/>
              <a:t>as</a:t>
            </a:r>
            <a:r>
              <a:rPr lang="de-DE" dirty="0"/>
              <a:t> MIDAS</a:t>
            </a:r>
          </a:p>
          <a:p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early</a:t>
            </a:r>
            <a:r>
              <a:rPr lang="de-DE" dirty="0"/>
              <a:t>-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previous-month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activity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informative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nowcasting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153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60033-67C2-A838-DCDA-A337613F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07DE76-7926-FB6E-8446-3FF39EC31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Seasonally</a:t>
            </a:r>
            <a:r>
              <a:rPr lang="de-DE" dirty="0"/>
              <a:t> </a:t>
            </a:r>
            <a:r>
              <a:rPr lang="de-DE" dirty="0" err="1"/>
              <a:t>unadjusted</a:t>
            </a:r>
            <a:r>
              <a:rPr lang="de-DE" dirty="0"/>
              <a:t> </a:t>
            </a:r>
            <a:r>
              <a:rPr lang="de-DE" dirty="0" err="1"/>
              <a:t>monthly</a:t>
            </a:r>
            <a:r>
              <a:rPr lang="de-DE" dirty="0"/>
              <a:t> German </a:t>
            </a:r>
            <a:r>
              <a:rPr lang="de-DE" dirty="0" err="1"/>
              <a:t>unemployment</a:t>
            </a:r>
            <a:r>
              <a:rPr lang="de-DE" dirty="0"/>
              <a:t> rate </a:t>
            </a:r>
          </a:p>
          <a:p>
            <a:pPr>
              <a:buFontTx/>
              <a:buChar char="-"/>
            </a:pPr>
            <a:r>
              <a:rPr lang="de-DE" sz="2400" dirty="0"/>
              <a:t>June 2011 - </a:t>
            </a:r>
            <a:r>
              <a:rPr lang="de-DE" sz="2400" dirty="0" err="1"/>
              <a:t>January</a:t>
            </a:r>
            <a:r>
              <a:rPr lang="de-DE" sz="2400" dirty="0"/>
              <a:t> 2023</a:t>
            </a:r>
          </a:p>
          <a:p>
            <a:r>
              <a:rPr lang="de-DE" dirty="0"/>
              <a:t>Google </a:t>
            </a:r>
            <a:r>
              <a:rPr lang="de-DE" dirty="0" err="1"/>
              <a:t>trends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indicators</a:t>
            </a:r>
            <a:endParaRPr lang="de-DE" dirty="0"/>
          </a:p>
          <a:p>
            <a:pPr>
              <a:buFontTx/>
              <a:buChar char="-"/>
            </a:pPr>
            <a:r>
              <a:rPr lang="de-DE" sz="2400" dirty="0"/>
              <a:t>Weekly </a:t>
            </a:r>
            <a:r>
              <a:rPr lang="de-DE" sz="2400" dirty="0" err="1"/>
              <a:t>frequency</a:t>
            </a:r>
            <a:endParaRPr lang="de-DE" sz="2400" dirty="0"/>
          </a:p>
          <a:p>
            <a:pPr>
              <a:buFontTx/>
              <a:buChar char="-"/>
            </a:pPr>
            <a:r>
              <a:rPr lang="de-DE" sz="2400" dirty="0" err="1"/>
              <a:t>Constructed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multiple job-</a:t>
            </a:r>
            <a:r>
              <a:rPr lang="de-DE" sz="2400" dirty="0" err="1"/>
              <a:t>related</a:t>
            </a:r>
            <a:r>
              <a:rPr lang="de-DE" sz="2400" dirty="0"/>
              <a:t> </a:t>
            </a:r>
            <a:r>
              <a:rPr lang="de-DE" sz="2400" dirty="0" err="1"/>
              <a:t>keywords</a:t>
            </a:r>
            <a:endParaRPr lang="de-DE" sz="2400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562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43F74-A882-C683-8079-1480F8A97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Google Trends </a:t>
            </a:r>
            <a:r>
              <a:rPr lang="de-DE" dirty="0" err="1"/>
              <a:t>construction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D5676B-2BE7-A9BC-02F6-62F838779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GT </a:t>
            </a:r>
            <a:r>
              <a:rPr lang="de-DE" dirty="0" err="1"/>
              <a:t>provides</a:t>
            </a:r>
            <a:r>
              <a:rPr lang="de-DE" dirty="0"/>
              <a:t> relative </a:t>
            </a:r>
            <a:r>
              <a:rPr lang="de-DE" dirty="0" err="1"/>
              <a:t>indices</a:t>
            </a:r>
            <a:r>
              <a:rPr lang="de-DE" dirty="0"/>
              <a:t> (0-100)</a:t>
            </a:r>
          </a:p>
          <a:p>
            <a:r>
              <a:rPr lang="de-DE" dirty="0"/>
              <a:t>Weekly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horizons</a:t>
            </a:r>
            <a:endParaRPr lang="de-DE" dirty="0"/>
          </a:p>
          <a:p>
            <a:r>
              <a:rPr lang="de-DE" dirty="0"/>
              <a:t>Long </a:t>
            </a:r>
            <a:r>
              <a:rPr lang="de-DE" dirty="0" err="1"/>
              <a:t>samples</a:t>
            </a:r>
            <a:r>
              <a:rPr lang="de-DE" dirty="0"/>
              <a:t> </a:t>
            </a:r>
            <a:r>
              <a:rPr lang="de-DE" dirty="0" err="1"/>
              <a:t>require</a:t>
            </a:r>
            <a:r>
              <a:rPr lang="de-DE" dirty="0"/>
              <a:t> </a:t>
            </a:r>
            <a:r>
              <a:rPr lang="de-DE" dirty="0" err="1"/>
              <a:t>preprocessing</a:t>
            </a:r>
            <a:endParaRPr lang="de-DE" dirty="0"/>
          </a:p>
          <a:p>
            <a:r>
              <a:rPr lang="de-DE" dirty="0" err="1"/>
              <a:t>Thats</a:t>
            </a:r>
            <a:r>
              <a:rPr lang="de-DE" dirty="0"/>
              <a:t>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constructed</a:t>
            </a:r>
            <a:r>
              <a:rPr lang="de-DE" dirty="0"/>
              <a:t> :</a:t>
            </a:r>
          </a:p>
          <a:p>
            <a:r>
              <a:rPr lang="de-DE" dirty="0" err="1"/>
              <a:t>Overlapping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stiching</a:t>
            </a:r>
            <a:endParaRPr lang="de-DE" dirty="0"/>
          </a:p>
          <a:p>
            <a:r>
              <a:rPr lang="de-DE" dirty="0" err="1"/>
              <a:t>Rescaling</a:t>
            </a:r>
            <a:r>
              <a:rPr lang="de-DE" dirty="0"/>
              <a:t> in </a:t>
            </a:r>
            <a:r>
              <a:rPr lang="de-DE" dirty="0" err="1"/>
              <a:t>overlapping</a:t>
            </a:r>
            <a:r>
              <a:rPr lang="de-DE" dirty="0"/>
              <a:t> </a:t>
            </a:r>
            <a:r>
              <a:rPr lang="de-DE" dirty="0" err="1"/>
              <a:t>regions</a:t>
            </a:r>
            <a:endParaRPr lang="de-DE" dirty="0"/>
          </a:p>
          <a:p>
            <a:r>
              <a:rPr lang="de-DE" dirty="0" err="1"/>
              <a:t>Produces</a:t>
            </a:r>
            <a:r>
              <a:rPr lang="de-DE" dirty="0"/>
              <a:t> </a:t>
            </a:r>
            <a:r>
              <a:rPr lang="de-DE" dirty="0" err="1"/>
              <a:t>consistley</a:t>
            </a:r>
            <a:r>
              <a:rPr lang="de-DE" dirty="0"/>
              <a:t> </a:t>
            </a:r>
            <a:r>
              <a:rPr lang="de-DE" dirty="0" err="1"/>
              <a:t>weekly</a:t>
            </a:r>
            <a:r>
              <a:rPr lang="de-DE" dirty="0"/>
              <a:t> </a:t>
            </a:r>
            <a:r>
              <a:rPr lang="de-DE" dirty="0" err="1"/>
              <a:t>series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47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2CCBD6-34B9-B457-CB7D-E18540C1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Biweekly aggregation and timing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900FE1-0D1D-91B2-B5ED-EFCA2D775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Unemployment in U_{M-1} released at the end of Month M-1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Release lies between two intra month windows 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Two information series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---- W34_{M-1} : is not affected by the release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--- W12_{M} : may affect the release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6" name="Inhaltsplatzhalter 5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D6B9B71-B5B9-6786-5038-26ADE0085B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2229478"/>
            <a:ext cx="6903720" cy="239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90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278784-CF31-555A-C100-8ED3FEEB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GT keywords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A64946-166E-D4DE-4056-2C2EC188E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Askitas</a:t>
            </a:r>
            <a:r>
              <a:rPr lang="de-DE" dirty="0"/>
              <a:t> &amp; Zimmerman (2010)</a:t>
            </a:r>
          </a:p>
          <a:p>
            <a:r>
              <a:rPr lang="de-DE" dirty="0"/>
              <a:t>Updated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reflect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lang="de-DE" dirty="0"/>
          </a:p>
          <a:p>
            <a:r>
              <a:rPr lang="de-DE" dirty="0"/>
              <a:t>Focus on: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Administrative </a:t>
            </a:r>
            <a:r>
              <a:rPr lang="de-DE" dirty="0" err="1"/>
              <a:t>contact</a:t>
            </a:r>
            <a:r>
              <a:rPr lang="de-DE" dirty="0"/>
              <a:t> (Arbeitsamt, Jobbörse)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Job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platforms</a:t>
            </a:r>
            <a:r>
              <a:rPr lang="de-DE" dirty="0"/>
              <a:t> (StepStone, Indeed)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activity</a:t>
            </a:r>
            <a:r>
              <a:rPr lang="de-DE" dirty="0"/>
              <a:t> (Bewerbung)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033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Macintosh PowerPoint</Application>
  <PresentationFormat>Breitbild</PresentationFormat>
  <Paragraphs>63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</vt:lpstr>
      <vt:lpstr>Using Google Search Data to Nowcast German Unemployment</vt:lpstr>
      <vt:lpstr>Structure</vt:lpstr>
      <vt:lpstr>Motivation</vt:lpstr>
      <vt:lpstr>Research Questions </vt:lpstr>
      <vt:lpstr>Data </vt:lpstr>
      <vt:lpstr>Google Trends construction</vt:lpstr>
      <vt:lpstr>Biweekly aggregation and timing</vt:lpstr>
      <vt:lpstr>GT keywords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Unger</dc:creator>
  <cp:lastModifiedBy>Alexander Unger</cp:lastModifiedBy>
  <cp:revision>10</cp:revision>
  <dcterms:created xsi:type="dcterms:W3CDTF">2025-12-15T21:36:34Z</dcterms:created>
  <dcterms:modified xsi:type="dcterms:W3CDTF">2025-12-17T17:22:12Z</dcterms:modified>
</cp:coreProperties>
</file>